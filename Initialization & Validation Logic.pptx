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09600" y="1301129"/>
            <a:ext cx="7924800" cy="135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b="1" sz="45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railway seat reservation system 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3174350" y="3511775"/>
            <a:ext cx="2795300" cy="228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800"/>
              </a:lnSpc>
              <a:defRPr sz="1700">
                <a:solidFill>
                  <a:srgbClr val="1693B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Presented by sameer shaikh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 txBox="1"/>
          <p:nvPr/>
        </p:nvSpPr>
        <p:spPr>
          <a:xfrm>
            <a:off x="530352" y="803602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Initialization Logic in the System</a:t>
            </a:r>
          </a:p>
        </p:txBody>
      </p:sp>
      <p:sp>
        <p:nvSpPr>
          <p:cNvPr id="24" name="Text 1"/>
          <p:cNvSpPr txBox="1"/>
          <p:nvPr/>
        </p:nvSpPr>
        <p:spPr>
          <a:xfrm>
            <a:off x="190122" y="1790781"/>
            <a:ext cx="8083297" cy="2674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Sets up all seats in a clean </a:t>
            </a:r>
            <a:r>
              <a:rPr>
                <a:solidFill>
                  <a:srgbClr val="4163E8"/>
                </a:solidFill>
              </a:rPr>
              <a:t>default state</a:t>
            </a:r>
            <a:r>
              <a:t> when the program starts.</a:t>
            </a: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Restores </a:t>
            </a:r>
            <a:r>
              <a:rPr>
                <a:solidFill>
                  <a:srgbClr val="343DE8"/>
                </a:solidFill>
              </a:rPr>
              <a:t>previous bookings</a:t>
            </a:r>
            <a:r>
              <a:t> from stored data so nothing is lost between runs.</a:t>
            </a: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Ensures the system is ready for </a:t>
            </a:r>
            <a:r>
              <a:rPr>
                <a:solidFill>
                  <a:srgbClr val="5763E8"/>
                </a:solidFill>
              </a:rPr>
              <a:t>booking, cancellation, and display </a:t>
            </a:r>
            <a:r>
              <a:t>as soon as it opens.</a:t>
            </a: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Provides users with an </a:t>
            </a:r>
            <a:r>
              <a:rPr>
                <a:solidFill>
                  <a:srgbClr val="4A57E8"/>
                </a:solidFill>
              </a:rPr>
              <a:t>accurate seat</a:t>
            </a:r>
            <a:r>
              <a:t> view the moment they start the program.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646753" y="751868"/>
            <a:ext cx="8083297" cy="1045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b="1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Validation Logic in the System</a:t>
            </a:r>
          </a:p>
          <a:p>
            <a:pPr marL="457200" indent="-317500" defTabSz="457200">
              <a:buClr>
                <a:srgbClr val="E8E8E3"/>
              </a:buClr>
              <a:buSzPct val="100000"/>
              <a:buFont typeface="TimesNewRomanPSMT"/>
              <a:buChar char="•"/>
              <a:defRPr sz="16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7" name="Text 1"/>
          <p:cNvSpPr txBox="1"/>
          <p:nvPr/>
        </p:nvSpPr>
        <p:spPr>
          <a:xfrm>
            <a:off x="487593" y="1805776"/>
            <a:ext cx="7620001" cy="256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Checks that </a:t>
            </a:r>
            <a:r>
              <a:rPr>
                <a:solidFill>
                  <a:srgbClr val="394DE8"/>
                </a:solidFill>
              </a:rPr>
              <a:t>seat numbers</a:t>
            </a:r>
            <a:r>
              <a:t> entered by the user are within the valid range.</a:t>
            </a: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Stops double booking by </a:t>
            </a:r>
            <a:r>
              <a:rPr>
                <a:solidFill>
                  <a:srgbClr val="3447E8"/>
                </a:solidFill>
              </a:rPr>
              <a:t>detecting </a:t>
            </a:r>
            <a:r>
              <a:t>when a seat is already reserved.</a:t>
            </a: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Prevents cancelling seats that are not booked, keeping data </a:t>
            </a:r>
            <a:r>
              <a:rPr>
                <a:solidFill>
                  <a:srgbClr val="3D4EE8"/>
                </a:solidFill>
              </a:rPr>
              <a:t>consistent.</a:t>
            </a:r>
            <a:endParaRPr>
              <a:solidFill>
                <a:srgbClr val="4157E8"/>
              </a:solidFill>
            </a:endParaRPr>
          </a:p>
          <a:p>
            <a:pPr marL="457200" indent="-317500" defTabSz="457200">
              <a:spcBef>
                <a:spcPts val="600"/>
              </a:spcBef>
              <a:buClr>
                <a:srgbClr val="E8E8E3"/>
              </a:buClr>
              <a:buSzPct val="100000"/>
              <a:buFont typeface="TimesNewRomanPSMT"/>
              <a:buChar char="•"/>
              <a:defRPr sz="1900">
                <a:solidFill>
                  <a:srgbClr val="E8E8E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Gives clear </a:t>
            </a:r>
            <a:r>
              <a:rPr>
                <a:solidFill>
                  <a:srgbClr val="393EE8"/>
                </a:solidFill>
              </a:rPr>
              <a:t>error messages</a:t>
            </a:r>
            <a:r>
              <a:t> so users understand and correct mistakes easily.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Text 0"/>
          <p:cNvGrpSpPr/>
          <p:nvPr/>
        </p:nvGrpSpPr>
        <p:grpSpPr>
          <a:xfrm>
            <a:off x="1798289" y="2087834"/>
            <a:ext cx="5547347" cy="685801"/>
            <a:chOff x="0" y="0"/>
            <a:chExt cx="5547345" cy="685800"/>
          </a:xfrm>
        </p:grpSpPr>
        <p:sp>
          <p:nvSpPr>
            <p:cNvPr id="29" name="Rectangle"/>
            <p:cNvSpPr/>
            <p:nvPr/>
          </p:nvSpPr>
          <p:spPr>
            <a:xfrm>
              <a:off x="-1" y="0"/>
              <a:ext cx="5547347" cy="685800"/>
            </a:xfrm>
            <a:prstGeom prst="rect">
              <a:avLst/>
            </a:prstGeom>
            <a:solidFill>
              <a:srgbClr val="1E293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30" name="Check Seat Range (1-50)?"/>
            <p:cNvSpPr txBox="1"/>
            <p:nvPr/>
          </p:nvSpPr>
          <p:spPr>
            <a:xfrm>
              <a:off x="-1" y="0"/>
              <a:ext cx="5547347" cy="685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2400" tIns="152400" rIns="152400" bIns="152400" numCol="1" anchor="t">
              <a:normAutofit fontScale="100000" lnSpcReduction="0"/>
            </a:bodyPr>
            <a:lstStyle>
              <a:lvl1pPr algn="ctr">
                <a:defRPr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Check Seat Range (1-50)?</a:t>
              </a:r>
            </a:p>
          </p:txBody>
        </p:sp>
      </p:grpSp>
      <p:grpSp>
        <p:nvGrpSpPr>
          <p:cNvPr id="34" name="Text 1"/>
          <p:cNvGrpSpPr/>
          <p:nvPr/>
        </p:nvGrpSpPr>
        <p:grpSpPr>
          <a:xfrm>
            <a:off x="1798289" y="3307034"/>
            <a:ext cx="5547347" cy="685801"/>
            <a:chOff x="0" y="0"/>
            <a:chExt cx="5547345" cy="685800"/>
          </a:xfrm>
        </p:grpSpPr>
        <p:sp>
          <p:nvSpPr>
            <p:cNvPr id="32" name="Rectangle"/>
            <p:cNvSpPr/>
            <p:nvPr/>
          </p:nvSpPr>
          <p:spPr>
            <a:xfrm>
              <a:off x="-1" y="0"/>
              <a:ext cx="5547347" cy="685800"/>
            </a:xfrm>
            <a:prstGeom prst="rect">
              <a:avLst/>
            </a:prstGeom>
            <a:solidFill>
              <a:srgbClr val="1E293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33" name="Check Seat Available?"/>
            <p:cNvSpPr txBox="1"/>
            <p:nvPr/>
          </p:nvSpPr>
          <p:spPr>
            <a:xfrm>
              <a:off x="-1" y="0"/>
              <a:ext cx="5547347" cy="685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2400" tIns="152400" rIns="152400" bIns="152400" numCol="1" anchor="t">
              <a:normAutofit fontScale="100000" lnSpcReduction="0"/>
            </a:bodyPr>
            <a:lstStyle>
              <a:lvl1pPr algn="ctr">
                <a:defRPr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Check Seat Available?</a:t>
              </a:r>
            </a:p>
          </p:txBody>
        </p:sp>
      </p:grpSp>
      <p:sp>
        <p:nvSpPr>
          <p:cNvPr id="35" name="Text 2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Validation Flow - Book Operation</a:t>
            </a:r>
          </a:p>
        </p:txBody>
      </p:sp>
      <p:sp>
        <p:nvSpPr>
          <p:cNvPr id="36" name="Text 3"/>
          <p:cNvSpPr txBox="1"/>
          <p:nvPr/>
        </p:nvSpPr>
        <p:spPr>
          <a:xfrm>
            <a:off x="530352" y="1249634"/>
            <a:ext cx="8083296" cy="33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 b="1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 Input (Seat &amp; Name)</a:t>
            </a:r>
          </a:p>
        </p:txBody>
      </p:sp>
      <p:sp>
        <p:nvSpPr>
          <p:cNvPr id="37" name="Text 4"/>
          <p:cNvSpPr txBox="1"/>
          <p:nvPr/>
        </p:nvSpPr>
        <p:spPr>
          <a:xfrm>
            <a:off x="530352" y="1630634"/>
            <a:ext cx="8083296" cy="33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38" name="Text 5"/>
          <p:cNvSpPr txBox="1"/>
          <p:nvPr/>
        </p:nvSpPr>
        <p:spPr>
          <a:xfrm>
            <a:off x="530352" y="2849834"/>
            <a:ext cx="8083296" cy="33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39" name="Text 6"/>
          <p:cNvSpPr txBox="1"/>
          <p:nvPr/>
        </p:nvSpPr>
        <p:spPr>
          <a:xfrm>
            <a:off x="530352" y="4069034"/>
            <a:ext cx="8083296" cy="33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40" name="Text 7"/>
          <p:cNvSpPr txBox="1"/>
          <p:nvPr/>
        </p:nvSpPr>
        <p:spPr>
          <a:xfrm>
            <a:off x="530352" y="4450034"/>
            <a:ext cx="8083296" cy="33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 b="1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 Confirmed 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363863" y="648400"/>
            <a:ext cx="8083296" cy="397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Benefits of This Approach</a:t>
            </a:r>
          </a:p>
        </p:txBody>
      </p:sp>
      <p:sp>
        <p:nvSpPr>
          <p:cNvPr id="43" name="Text 1"/>
          <p:cNvSpPr txBox="1"/>
          <p:nvPr/>
        </p:nvSpPr>
        <p:spPr>
          <a:xfrm>
            <a:off x="306524" y="1508305"/>
            <a:ext cx="5882009" cy="2731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700"/>
              </a:lnSpc>
              <a:buSzPct val="100000"/>
              <a:buChar char="•"/>
              <a:defRPr b="1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 Integrity:</a:t>
            </a:r>
            <a:r>
              <a:rPr b="0">
                <a:solidFill>
                  <a:srgbClr val="CBD5E1"/>
                </a:solidFill>
              </a:rPr>
              <a:t> Prevents invalid bookings and corrupted data</a:t>
            </a:r>
          </a:p>
          <a:p>
            <a:pPr marL="342900" indent="-342900">
              <a:lnSpc>
                <a:spcPts val="2700"/>
              </a:lnSpc>
              <a:buSzPct val="100000"/>
              <a:buChar char="•"/>
              <a:defRPr b="1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User Experience:</a:t>
            </a:r>
            <a:r>
              <a:rPr b="0">
                <a:solidFill>
                  <a:srgbClr val="CBD5E1"/>
                </a:solidFill>
              </a:rPr>
              <a:t> Clear error messages guide user actions</a:t>
            </a:r>
          </a:p>
          <a:p>
            <a:pPr marL="342900" indent="-342900">
              <a:lnSpc>
                <a:spcPts val="2700"/>
              </a:lnSpc>
              <a:buSzPct val="100000"/>
              <a:buChar char="•"/>
              <a:defRPr b="1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Persistence:</a:t>
            </a:r>
            <a:r>
              <a:rPr b="0">
                <a:solidFill>
                  <a:srgbClr val="CBD5E1"/>
                </a:solidFill>
              </a:rPr>
              <a:t> Previous bookings restored on program restart</a:t>
            </a:r>
          </a:p>
          <a:p>
            <a:pPr marL="342900" indent="-342900">
              <a:lnSpc>
                <a:spcPts val="2700"/>
              </a:lnSpc>
              <a:buSzPct val="100000"/>
              <a:buChar char="•"/>
              <a:defRPr b="1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Reliability:</a:t>
            </a:r>
            <a:r>
              <a:rPr b="0">
                <a:solidFill>
                  <a:srgbClr val="CBD5E1"/>
                </a:solidFill>
              </a:rPr>
              <a:t> System remains stable under all conditions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/>
        </p:nvSpPr>
        <p:spPr>
          <a:xfrm>
            <a:off x="3324051" y="1829136"/>
            <a:ext cx="2495898" cy="53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b="1" sz="3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3108152" y="2841544"/>
            <a:ext cx="2927696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800"/>
              </a:lnSpc>
              <a:defRPr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Railway Seat Reservation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